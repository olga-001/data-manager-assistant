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58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9E880C2D-3843-41D9-9124-334F567FFBD5}">
          <p14:sldIdLst>
            <p14:sldId id="256"/>
            <p14:sldId id="257"/>
            <p14:sldId id="259"/>
            <p14:sldId id="260"/>
            <p14:sldId id="261"/>
            <p14:sldId id="262"/>
            <p14:sldId id="263"/>
            <p14:sldId id="264"/>
            <p14:sldId id="258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6F8108-21E9-470C-B4AA-F3CC1E0992B8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A5761D-8147-4CCA-A531-391871A5E7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56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5761D-8147-4CCA-A531-391871A5E79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61541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3B198-6B91-7DBF-C113-2C5198B43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D68AEF1-1212-5572-E1E8-7B79A3D7C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BA18E32-8008-70FA-7D18-E53333432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AFB48F1-390E-3F5B-CFEA-ACE55FE932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5761D-8147-4CCA-A531-391871A5E79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2790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43161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47913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21946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2044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03142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54507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67198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95283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5EE9E671-1C83-40F7-9D33-FE8AAC7F721F}" type="datetime1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8682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39644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39992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1844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18093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33700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11743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32424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825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334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EE9E671-1C83-40F7-9D33-FE8AAC7F721F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773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  <p:sldLayoutId id="2147483780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7DED7F-D16E-0C24-9428-28D37CC5A07B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65125" y="4867503"/>
            <a:ext cx="11461750" cy="1169987"/>
          </a:xfrm>
        </p:spPr>
        <p:txBody>
          <a:bodyPr anchor="b">
            <a:normAutofit/>
          </a:bodyPr>
          <a:lstStyle/>
          <a:p>
            <a:r>
              <a:rPr lang="en-US" dirty="0"/>
              <a:t>Multi-Agent AI System for Automated Data Enrichment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2347BF2-E5C6-A665-755C-E7A93A90C039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406304" y="6037490"/>
            <a:ext cx="11461750" cy="48101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i="1" dirty="0" err="1"/>
              <a:t>Мультиагентная</a:t>
            </a:r>
            <a:r>
              <a:rPr lang="ru-RU" i="1" dirty="0"/>
              <a:t> AI-система · AI-система с </a:t>
            </a:r>
            <a:r>
              <a:rPr lang="ru-RU" i="1" dirty="0" err="1"/>
              <a:t>оркестрацией</a:t>
            </a:r>
            <a:r>
              <a:rPr lang="ru-RU" i="1" dirty="0"/>
              <a:t> · Мультимодальная обработка данных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B4F9964-0B6D-5B5F-399B-6F7E84E56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2244" y="0"/>
            <a:ext cx="5229870" cy="477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320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 descr="Изображение выглядит как круг, снимок экрана, электрони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BF38D48-CB85-8FDB-D8D8-DA6862D10FC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19" b="1950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A150A3-1CBF-24BD-2523-B68E5846B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0685" y="523677"/>
            <a:ext cx="9067800" cy="1371600"/>
          </a:xfrm>
        </p:spPr>
        <p:txBody>
          <a:bodyPr>
            <a:normAutofit/>
          </a:bodyPr>
          <a:lstStyle/>
          <a:p>
            <a:r>
              <a:rPr lang="en-GB" dirty="0"/>
              <a:t>Data manager assistant</a:t>
            </a:r>
            <a:endParaRPr lang="ru-RU" dirty="0"/>
          </a:p>
        </p:txBody>
      </p:sp>
      <p:pic>
        <p:nvPicPr>
          <p:cNvPr id="7" name="Объект 6" descr="Изображение выглядит как круг, снимок экрана, электрони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5DB6359-5E90-2713-BDC9-235F0CFF6B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20" y="437755"/>
            <a:ext cx="1687022" cy="1543445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817D23-35D1-4469-155D-7B719E13168E}"/>
              </a:ext>
            </a:extLst>
          </p:cNvPr>
          <p:cNvSpPr txBox="1"/>
          <p:nvPr/>
        </p:nvSpPr>
        <p:spPr>
          <a:xfrm>
            <a:off x="402902" y="2188027"/>
            <a:ext cx="114189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/>
              <a:t>Мультиагентная</a:t>
            </a:r>
            <a:r>
              <a:rPr lang="ru-RU" b="1" dirty="0"/>
              <a:t> AI-система</a:t>
            </a:r>
            <a:r>
              <a:rPr lang="ru-RU" dirty="0"/>
              <a:t> для автоматизированного обогащения и заполнения базы данных.</a:t>
            </a:r>
            <a:r>
              <a:rPr lang="en-GB" dirty="0"/>
              <a:t> </a:t>
            </a:r>
            <a:r>
              <a:rPr lang="ru-RU" dirty="0"/>
              <a:t>Система обрабатывает </a:t>
            </a:r>
            <a:r>
              <a:rPr lang="ru-RU" b="1" dirty="0"/>
              <a:t>неструктурированные входные данные</a:t>
            </a:r>
            <a:r>
              <a:rPr lang="ru-RU" dirty="0"/>
              <a:t> (текст, скриншоты, изображения), извлекает достоверную информацию, генерирует нейтральные описания и обновляет карточки базы данных </a:t>
            </a:r>
            <a:r>
              <a:rPr lang="ru-RU" b="1" dirty="0"/>
              <a:t>без перезаписи уже заполненных полей</a:t>
            </a:r>
            <a:r>
              <a:rPr lang="ru-RU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4015ED-3FFF-F10C-FD64-D6902750AE69}"/>
              </a:ext>
            </a:extLst>
          </p:cNvPr>
          <p:cNvSpPr txBox="1"/>
          <p:nvPr/>
        </p:nvSpPr>
        <p:spPr>
          <a:xfrm>
            <a:off x="413920" y="3595183"/>
            <a:ext cx="592156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Цель проекта</a:t>
            </a:r>
          </a:p>
          <a:p>
            <a:pPr>
              <a:buNone/>
            </a:pPr>
            <a:r>
              <a:rPr lang="ru-RU" dirty="0"/>
              <a:t>Сократить ручной труд при ведении и актуализации больших каталогов за счёт: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автоматического извлечения данных из разрозненных источников,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контролируемых и предсказуемых LLM-выходов,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обновления </a:t>
            </a:r>
            <a:r>
              <a:rPr lang="ru-RU" sz="1600" dirty="0"/>
              <a:t>только</a:t>
            </a:r>
            <a:r>
              <a:rPr lang="ru-RU" dirty="0"/>
              <a:t> пустых полей,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управления статусами и обработки ошибок на уровне </a:t>
            </a:r>
            <a:r>
              <a:rPr lang="ru-RU" dirty="0" err="1"/>
              <a:t>workflow</a:t>
            </a:r>
            <a:r>
              <a:rPr lang="ru-RU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17C214-AE16-58F5-1AA4-D734134B6B4E}"/>
              </a:ext>
            </a:extLst>
          </p:cNvPr>
          <p:cNvSpPr txBox="1"/>
          <p:nvPr/>
        </p:nvSpPr>
        <p:spPr>
          <a:xfrm>
            <a:off x="6335486" y="3595182"/>
            <a:ext cx="558437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Ключевые возможности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Мультимодальная обработка входных данных (текст + изображения)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</a:t>
            </a:r>
            <a:r>
              <a:rPr lang="ru-RU" dirty="0" err="1"/>
              <a:t>Мультиагентная</a:t>
            </a:r>
            <a:r>
              <a:rPr lang="ru-RU" dirty="0"/>
              <a:t> архитектура с разделением ответственности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Валидация и правила </a:t>
            </a:r>
            <a:r>
              <a:rPr lang="ru-RU" sz="1600" dirty="0"/>
              <a:t>обновления</a:t>
            </a:r>
            <a:r>
              <a:rPr lang="ru-RU" dirty="0"/>
              <a:t> на уровне отдельных полей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Статусно-ориентированный жизненный цикл обработки</a:t>
            </a:r>
          </a:p>
        </p:txBody>
      </p:sp>
    </p:spTree>
    <p:extLst>
      <p:ext uri="{BB962C8B-B14F-4D97-AF65-F5344CB8AC3E}">
        <p14:creationId xmlns:p14="http://schemas.microsoft.com/office/powerpoint/2010/main" val="1012183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CB00E4-4355-30A9-3598-60EE35CDE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 descr="Изображение выглядит как круг, снимок экрана, электрони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35F3FD0-85FA-5F28-C109-09495DC7CFA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19" b="19505"/>
          <a:stretch>
            <a:fillRect/>
          </a:stretch>
        </p:blipFill>
        <p:spPr>
          <a:xfrm>
            <a:off x="-29450" y="10"/>
            <a:ext cx="12191980" cy="6857990"/>
          </a:xfrm>
          <a:prstGeom prst="rect">
            <a:avLst/>
          </a:prstGeom>
        </p:spPr>
      </p:pic>
      <p:pic>
        <p:nvPicPr>
          <p:cNvPr id="7" name="Объект 6" descr="Изображение выглядит как круг, снимок экрана, электрони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56BBA40-E3C2-335D-F323-0B4CAAB586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20" y="437755"/>
            <a:ext cx="1687022" cy="1543445"/>
          </a:xfr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CBE52CDB-85BE-EEB9-8DA5-BC5929779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571" y="523677"/>
            <a:ext cx="9067800" cy="1266298"/>
          </a:xfrm>
        </p:spPr>
        <p:txBody>
          <a:bodyPr>
            <a:normAutofit/>
          </a:bodyPr>
          <a:lstStyle/>
          <a:p>
            <a:r>
              <a:rPr lang="ru-RU" dirty="0">
                <a:effectLst/>
              </a:rPr>
              <a:t>Высокоуровневая архитектура многоагентного рабочего процесса</a:t>
            </a:r>
            <a:endParaRPr lang="ru-R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56B7A2-7409-16E7-A960-A4768AD3D60E}"/>
              </a:ext>
            </a:extLst>
          </p:cNvPr>
          <p:cNvSpPr txBox="1"/>
          <p:nvPr/>
        </p:nvSpPr>
        <p:spPr>
          <a:xfrm>
            <a:off x="5061847" y="1578283"/>
            <a:ext cx="25908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trebuchet ms" panose="020B0603020202020204" pitchFamily="34" charset="0"/>
              </a:rPr>
              <a:t>Notion Database</a:t>
            </a:r>
            <a:b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</a:rPr>
            </a:br>
            <a:r>
              <a:rPr lang="en-US" sz="110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trebuchet ms" panose="020B0603020202020204" pitchFamily="34" charset="0"/>
              </a:rPr>
              <a:t>Automation Status = Ready to process</a:t>
            </a:r>
            <a:endParaRPr lang="ru-RU" sz="1100" i="0" dirty="0">
              <a:solidFill>
                <a:schemeClr val="accent5">
                  <a:lumMod val="60000"/>
                  <a:lumOff val="40000"/>
                </a:schemeClr>
              </a:solidFill>
              <a:effectLst/>
              <a:latin typeface="trebuchet ms" panose="020B0603020202020204" pitchFamily="34" charset="0"/>
            </a:endParaRPr>
          </a:p>
        </p:txBody>
      </p:sp>
      <p:sp>
        <p:nvSpPr>
          <p:cNvPr id="21" name="Стрелка: вниз 20">
            <a:extLst>
              <a:ext uri="{FF2B5EF4-FFF2-40B4-BE49-F238E27FC236}">
                <a16:creationId xmlns:a16="http://schemas.microsoft.com/office/drawing/2014/main" id="{C7BBAAA6-17E7-3C1B-A481-87A7922DD66B}"/>
              </a:ext>
            </a:extLst>
          </p:cNvPr>
          <p:cNvSpPr/>
          <p:nvPr/>
        </p:nvSpPr>
        <p:spPr>
          <a:xfrm>
            <a:off x="6128201" y="2064275"/>
            <a:ext cx="332232" cy="274722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0C6E25-4B34-2AC5-9807-B897CF4A417E}"/>
              </a:ext>
            </a:extLst>
          </p:cNvPr>
          <p:cNvSpPr txBox="1"/>
          <p:nvPr/>
        </p:nvSpPr>
        <p:spPr>
          <a:xfrm>
            <a:off x="5167249" y="2330745"/>
            <a:ext cx="23948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trebuchet ms" panose="020B0603020202020204" pitchFamily="34" charset="0"/>
              </a:rPr>
              <a:t>Workflow Trigger</a:t>
            </a:r>
            <a:b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</a:rPr>
            </a:br>
            <a:r>
              <a:rPr lang="en-US" sz="11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trebuchet ms" panose="020B0603020202020204" pitchFamily="34" charset="0"/>
              </a:rPr>
              <a:t>Get many database pages</a:t>
            </a:r>
            <a:endParaRPr lang="ru-RU" sz="11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Стрелка: вниз 23">
            <a:extLst>
              <a:ext uri="{FF2B5EF4-FFF2-40B4-BE49-F238E27FC236}">
                <a16:creationId xmlns:a16="http://schemas.microsoft.com/office/drawing/2014/main" id="{4823E752-D1A1-0FDD-5C39-29AAE73064F8}"/>
              </a:ext>
            </a:extLst>
          </p:cNvPr>
          <p:cNvSpPr/>
          <p:nvPr/>
        </p:nvSpPr>
        <p:spPr>
          <a:xfrm>
            <a:off x="6128201" y="2880520"/>
            <a:ext cx="332232" cy="274722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728479-3B23-C519-6386-6AC987D0D509}"/>
              </a:ext>
            </a:extLst>
          </p:cNvPr>
          <p:cNvSpPr txBox="1"/>
          <p:nvPr/>
        </p:nvSpPr>
        <p:spPr>
          <a:xfrm>
            <a:off x="5496830" y="3128013"/>
            <a:ext cx="166290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trebuchet ms" panose="020B0603020202020204" pitchFamily="34" charset="0"/>
              </a:rPr>
              <a:t>Loop Over Items</a:t>
            </a:r>
            <a:b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</a:rPr>
            </a:br>
            <a:r>
              <a:rPr lang="en-US" sz="11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trebuchet ms" panose="020B0603020202020204" pitchFamily="34" charset="0"/>
              </a:rPr>
              <a:t>Process one page</a:t>
            </a:r>
            <a:endParaRPr lang="ru-RU" sz="11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2ABE43-C6D9-47EA-9630-C0BE7D512719}"/>
              </a:ext>
            </a:extLst>
          </p:cNvPr>
          <p:cNvSpPr txBox="1"/>
          <p:nvPr/>
        </p:nvSpPr>
        <p:spPr>
          <a:xfrm>
            <a:off x="8793545" y="3388967"/>
            <a:ext cx="2166267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trebuchet ms" panose="020B0603020202020204" pitchFamily="34" charset="0"/>
              </a:rPr>
              <a:t>Unified Input Builder &amp; Normalize</a:t>
            </a:r>
            <a:b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</a:rPr>
            </a:br>
            <a:r>
              <a:rPr lang="en-US" sz="11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trebuchet ms" panose="020B0603020202020204" pitchFamily="34" charset="0"/>
              </a:rPr>
              <a:t>Text + Screenshots + Photos</a:t>
            </a:r>
            <a:endParaRPr lang="ru-RU" sz="11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8C7830D8-4425-BE5B-42D4-570B719D0DD1}"/>
              </a:ext>
            </a:extLst>
          </p:cNvPr>
          <p:cNvCxnSpPr>
            <a:cxnSpLocks/>
          </p:cNvCxnSpPr>
          <p:nvPr/>
        </p:nvCxnSpPr>
        <p:spPr>
          <a:xfrm>
            <a:off x="7174283" y="3407981"/>
            <a:ext cx="1604715" cy="26498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0261994-2FAD-C404-6101-A98B011FA479}"/>
              </a:ext>
            </a:extLst>
          </p:cNvPr>
          <p:cNvSpPr txBox="1"/>
          <p:nvPr/>
        </p:nvSpPr>
        <p:spPr>
          <a:xfrm>
            <a:off x="9106805" y="4392330"/>
            <a:ext cx="141514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trebuchet ms" panose="020B0603020202020204" pitchFamily="34" charset="0"/>
              </a:rPr>
              <a:t>Entry Assistant</a:t>
            </a:r>
            <a:b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</a:rPr>
            </a:br>
            <a:r>
              <a:rPr lang="en-US" sz="11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trebuchet ms" panose="020B0603020202020204" pitchFamily="34" charset="0"/>
              </a:rPr>
              <a:t>AI Agent 1</a:t>
            </a:r>
            <a:b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</a:rPr>
            </a:br>
            <a:r>
              <a:rPr lang="en-US" sz="11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trebuchet ms" panose="020B0603020202020204" pitchFamily="34" charset="0"/>
              </a:rPr>
              <a:t>Data Extraction</a:t>
            </a:r>
            <a:endParaRPr lang="ru-RU" sz="11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D9419EC2-A24B-76E9-E1B9-CA06A0F4AC57}"/>
              </a:ext>
            </a:extLst>
          </p:cNvPr>
          <p:cNvCxnSpPr>
            <a:cxnSpLocks/>
          </p:cNvCxnSpPr>
          <p:nvPr/>
        </p:nvCxnSpPr>
        <p:spPr>
          <a:xfrm>
            <a:off x="9864996" y="4007082"/>
            <a:ext cx="0" cy="407684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F6CD6FA-B005-2D9C-C78B-118956161B2D}"/>
              </a:ext>
            </a:extLst>
          </p:cNvPr>
          <p:cNvSpPr txBox="1"/>
          <p:nvPr/>
        </p:nvSpPr>
        <p:spPr>
          <a:xfrm>
            <a:off x="8924179" y="5338389"/>
            <a:ext cx="1905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trebuchet ms" panose="020B0603020202020204" pitchFamily="34" charset="0"/>
              </a:rPr>
              <a:t>Parse &amp; Normalize Output</a:t>
            </a:r>
            <a:b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</a:rPr>
            </a:br>
            <a:r>
              <a:rPr lang="en-US" sz="11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trebuchet ms" panose="020B0603020202020204" pitchFamily="34" charset="0"/>
              </a:rPr>
              <a:t>Safe JSON</a:t>
            </a:r>
            <a:endParaRPr lang="ru-RU" sz="11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1ECF505A-A27A-CC61-45ED-7BB62D0BE4E3}"/>
              </a:ext>
            </a:extLst>
          </p:cNvPr>
          <p:cNvCxnSpPr>
            <a:cxnSpLocks/>
          </p:cNvCxnSpPr>
          <p:nvPr/>
        </p:nvCxnSpPr>
        <p:spPr>
          <a:xfrm>
            <a:off x="9864996" y="4951033"/>
            <a:ext cx="0" cy="401747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47FA10C-3161-7316-6B04-77C1A29E3A0E}"/>
              </a:ext>
            </a:extLst>
          </p:cNvPr>
          <p:cNvSpPr txBox="1"/>
          <p:nvPr/>
        </p:nvSpPr>
        <p:spPr>
          <a:xfrm>
            <a:off x="6682798" y="5821207"/>
            <a:ext cx="1709057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trebuchet ms" panose="020B0603020202020204" pitchFamily="34" charset="0"/>
              </a:rPr>
              <a:t>Location Assistant</a:t>
            </a:r>
            <a:br>
              <a:rPr lang="fr-FR" sz="1100" dirty="0">
                <a:solidFill>
                  <a:schemeClr val="accent5">
                    <a:lumMod val="60000"/>
                    <a:lumOff val="40000"/>
                  </a:schemeClr>
                </a:solidFill>
              </a:rPr>
            </a:br>
            <a:r>
              <a:rPr lang="fr-FR" sz="11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trebuchet ms" panose="020B0603020202020204" pitchFamily="34" charset="0"/>
              </a:rPr>
              <a:t>AI Agent 2</a:t>
            </a:r>
            <a:br>
              <a:rPr lang="fr-FR" sz="1100" dirty="0">
                <a:solidFill>
                  <a:schemeClr val="accent5">
                    <a:lumMod val="60000"/>
                    <a:lumOff val="40000"/>
                  </a:schemeClr>
                </a:solidFill>
              </a:rPr>
            </a:br>
            <a:r>
              <a:rPr lang="fr-FR" sz="11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trebuchet ms" panose="020B0603020202020204" pitchFamily="34" charset="0"/>
              </a:rPr>
              <a:t>Description Generation</a:t>
            </a:r>
            <a:endParaRPr lang="ru-RU" sz="11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1024395F-9A8A-ECE9-66D0-AD452FE05CE4}"/>
              </a:ext>
            </a:extLst>
          </p:cNvPr>
          <p:cNvCxnSpPr>
            <a:cxnSpLocks/>
          </p:cNvCxnSpPr>
          <p:nvPr/>
        </p:nvCxnSpPr>
        <p:spPr>
          <a:xfrm flipH="1">
            <a:off x="8421436" y="5797870"/>
            <a:ext cx="1167512" cy="29912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1ECFD60-6AD9-E28B-1941-5C9D2A8700DB}"/>
              </a:ext>
            </a:extLst>
          </p:cNvPr>
          <p:cNvSpPr txBox="1"/>
          <p:nvPr/>
        </p:nvSpPr>
        <p:spPr>
          <a:xfrm>
            <a:off x="3803142" y="5894557"/>
            <a:ext cx="178798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trebuchet ms" panose="020B0603020202020204" pitchFamily="34" charset="0"/>
              </a:rPr>
              <a:t>Merge &amp; Validation Layer</a:t>
            </a:r>
            <a:b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</a:rPr>
            </a:br>
            <a:r>
              <a:rPr lang="en-US" sz="11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trebuchet ms" panose="020B0603020202020204" pitchFamily="34" charset="0"/>
              </a:rPr>
              <a:t>Only Empty Fields</a:t>
            </a:r>
            <a:endParaRPr lang="ru-RU" sz="11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B506440E-4DF4-D254-B952-D7C34F5C6D09}"/>
              </a:ext>
            </a:extLst>
          </p:cNvPr>
          <p:cNvCxnSpPr>
            <a:cxnSpLocks/>
          </p:cNvCxnSpPr>
          <p:nvPr/>
        </p:nvCxnSpPr>
        <p:spPr>
          <a:xfrm flipH="1">
            <a:off x="5656198" y="6140149"/>
            <a:ext cx="820683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8D7CBB16-17D0-2D3B-8C24-6CEFDFFC3473}"/>
              </a:ext>
            </a:extLst>
          </p:cNvPr>
          <p:cNvSpPr txBox="1"/>
          <p:nvPr/>
        </p:nvSpPr>
        <p:spPr>
          <a:xfrm>
            <a:off x="2208670" y="5246234"/>
            <a:ext cx="19935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trebuchet ms" panose="020B0603020202020204" pitchFamily="34" charset="0"/>
              </a:rPr>
              <a:t>Build Notion Update Payload</a:t>
            </a:r>
            <a:b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</a:rPr>
            </a:br>
            <a:r>
              <a:rPr lang="en-US" sz="11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trebuchet ms" panose="020B0603020202020204" pitchFamily="34" charset="0"/>
              </a:rPr>
              <a:t>No Overwrite Logic</a:t>
            </a:r>
            <a:endParaRPr lang="ru-RU" sz="11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53" name="Прямая со стрелкой 52">
            <a:extLst>
              <a:ext uri="{FF2B5EF4-FFF2-40B4-BE49-F238E27FC236}">
                <a16:creationId xmlns:a16="http://schemas.microsoft.com/office/drawing/2014/main" id="{3589EF42-8D39-EFDE-0FDA-94290A964503}"/>
              </a:ext>
            </a:extLst>
          </p:cNvPr>
          <p:cNvCxnSpPr>
            <a:cxnSpLocks/>
          </p:cNvCxnSpPr>
          <p:nvPr/>
        </p:nvCxnSpPr>
        <p:spPr>
          <a:xfrm flipH="1" flipV="1">
            <a:off x="3140170" y="5717717"/>
            <a:ext cx="546440" cy="37927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03F1B6AE-C2DC-5283-D80A-7295629A7586}"/>
              </a:ext>
            </a:extLst>
          </p:cNvPr>
          <p:cNvSpPr txBox="1"/>
          <p:nvPr/>
        </p:nvSpPr>
        <p:spPr>
          <a:xfrm>
            <a:off x="2316777" y="4673225"/>
            <a:ext cx="150222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trebuchet ms" panose="020B0603020202020204" pitchFamily="34" charset="0"/>
              </a:rPr>
              <a:t>Update Notion Page</a:t>
            </a:r>
            <a:endParaRPr lang="ru-RU" sz="11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60" name="Прямая со стрелкой 59">
            <a:extLst>
              <a:ext uri="{FF2B5EF4-FFF2-40B4-BE49-F238E27FC236}">
                <a16:creationId xmlns:a16="http://schemas.microsoft.com/office/drawing/2014/main" id="{3EC6A674-4547-867F-F083-F0440A3E50E5}"/>
              </a:ext>
            </a:extLst>
          </p:cNvPr>
          <p:cNvCxnSpPr>
            <a:cxnSpLocks/>
          </p:cNvCxnSpPr>
          <p:nvPr/>
        </p:nvCxnSpPr>
        <p:spPr>
          <a:xfrm flipV="1">
            <a:off x="3067891" y="4934835"/>
            <a:ext cx="0" cy="272618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6EF60C9-268B-2EEA-CD6B-C7B4F00DC797}"/>
              </a:ext>
            </a:extLst>
          </p:cNvPr>
          <p:cNvSpPr txBox="1"/>
          <p:nvPr/>
        </p:nvSpPr>
        <p:spPr>
          <a:xfrm>
            <a:off x="2996546" y="3740530"/>
            <a:ext cx="166551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trebuchet ms" panose="020B0603020202020204" pitchFamily="34" charset="0"/>
              </a:rPr>
              <a:t>Set Automation Status</a:t>
            </a:r>
            <a:b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</a:rPr>
            </a:br>
            <a:r>
              <a:rPr lang="en-US" sz="11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trebuchet ms" panose="020B0603020202020204" pitchFamily="34" charset="0"/>
              </a:rPr>
              <a:t>Ready to check</a:t>
            </a:r>
            <a:endParaRPr lang="ru-RU" sz="11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68" name="Прямая со стрелкой 67">
            <a:extLst>
              <a:ext uri="{FF2B5EF4-FFF2-40B4-BE49-F238E27FC236}">
                <a16:creationId xmlns:a16="http://schemas.microsoft.com/office/drawing/2014/main" id="{9BD44664-A21A-3D55-A4B2-352C6BF1D80B}"/>
              </a:ext>
            </a:extLst>
          </p:cNvPr>
          <p:cNvCxnSpPr>
            <a:cxnSpLocks/>
          </p:cNvCxnSpPr>
          <p:nvPr/>
        </p:nvCxnSpPr>
        <p:spPr>
          <a:xfrm flipV="1">
            <a:off x="3140170" y="4181133"/>
            <a:ext cx="627019" cy="467267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A7CDF767-0BB7-49AC-46B3-44FED39590B8}"/>
              </a:ext>
            </a:extLst>
          </p:cNvPr>
          <p:cNvSpPr txBox="1"/>
          <p:nvPr/>
        </p:nvSpPr>
        <p:spPr>
          <a:xfrm>
            <a:off x="1508007" y="3727684"/>
            <a:ext cx="16175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11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trebuchet ms" panose="020B0603020202020204" pitchFamily="34" charset="0"/>
              </a:rPr>
              <a:t>Set Automation Status</a:t>
            </a:r>
            <a:br>
              <a:rPr lang="da-DK" sz="1100" dirty="0">
                <a:solidFill>
                  <a:schemeClr val="accent5">
                    <a:lumMod val="60000"/>
                    <a:lumOff val="40000"/>
                  </a:schemeClr>
                </a:solidFill>
              </a:rPr>
            </a:br>
            <a:r>
              <a:rPr lang="da-DK" sz="11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trebuchet ms" panose="020B0603020202020204" pitchFamily="34" charset="0"/>
              </a:rPr>
              <a:t>Error + Log</a:t>
            </a:r>
            <a:endParaRPr lang="ru-RU" sz="11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5" name="Прямая со стрелкой 74">
            <a:extLst>
              <a:ext uri="{FF2B5EF4-FFF2-40B4-BE49-F238E27FC236}">
                <a16:creationId xmlns:a16="http://schemas.microsoft.com/office/drawing/2014/main" id="{5188C4AF-B3E4-54A3-8DBA-401DCF1AB69B}"/>
              </a:ext>
            </a:extLst>
          </p:cNvPr>
          <p:cNvCxnSpPr>
            <a:cxnSpLocks/>
          </p:cNvCxnSpPr>
          <p:nvPr/>
        </p:nvCxnSpPr>
        <p:spPr>
          <a:xfrm flipH="1" flipV="1">
            <a:off x="2342348" y="4153892"/>
            <a:ext cx="627019" cy="47464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>
            <a:extLst>
              <a:ext uri="{FF2B5EF4-FFF2-40B4-BE49-F238E27FC236}">
                <a16:creationId xmlns:a16="http://schemas.microsoft.com/office/drawing/2014/main" id="{49FBB6E0-9021-E29E-9115-17636FA885ED}"/>
              </a:ext>
            </a:extLst>
          </p:cNvPr>
          <p:cNvCxnSpPr>
            <a:cxnSpLocks/>
          </p:cNvCxnSpPr>
          <p:nvPr/>
        </p:nvCxnSpPr>
        <p:spPr>
          <a:xfrm flipV="1">
            <a:off x="3885865" y="3383082"/>
            <a:ext cx="1705264" cy="33211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Прямая со стрелкой 81">
            <a:extLst>
              <a:ext uri="{FF2B5EF4-FFF2-40B4-BE49-F238E27FC236}">
                <a16:creationId xmlns:a16="http://schemas.microsoft.com/office/drawing/2014/main" id="{18CE0F91-4155-C87B-07E0-80A490771547}"/>
              </a:ext>
            </a:extLst>
          </p:cNvPr>
          <p:cNvCxnSpPr>
            <a:cxnSpLocks/>
          </p:cNvCxnSpPr>
          <p:nvPr/>
        </p:nvCxnSpPr>
        <p:spPr>
          <a:xfrm flipV="1">
            <a:off x="2457154" y="3370593"/>
            <a:ext cx="3166871" cy="357091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E38E41C7-0EBD-7458-CF47-6A0344255B24}"/>
              </a:ext>
            </a:extLst>
          </p:cNvPr>
          <p:cNvSpPr txBox="1"/>
          <p:nvPr/>
        </p:nvSpPr>
        <p:spPr>
          <a:xfrm>
            <a:off x="2374434" y="4237057"/>
            <a:ext cx="51057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dirty="0"/>
              <a:t>Error</a:t>
            </a:r>
            <a:endParaRPr lang="ru-RU" sz="105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2588185-4DA2-E353-5D88-A720FEBE6532}"/>
              </a:ext>
            </a:extLst>
          </p:cNvPr>
          <p:cNvSpPr txBox="1"/>
          <p:nvPr/>
        </p:nvSpPr>
        <p:spPr>
          <a:xfrm>
            <a:off x="4538805" y="3576517"/>
            <a:ext cx="47277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600" b="1" dirty="0"/>
              <a:t>🛠 Технологии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 n8n (self-hosted)</a:t>
            </a:r>
            <a:r>
              <a:rPr lang="en-US" sz="1600" dirty="0"/>
              <a:t> — </a:t>
            </a:r>
            <a:r>
              <a:rPr lang="ru-RU" sz="1600" dirty="0" err="1"/>
              <a:t>оркестрация</a:t>
            </a:r>
            <a:r>
              <a:rPr lang="ru-RU" sz="1600" dirty="0"/>
              <a:t> </a:t>
            </a:r>
            <a:r>
              <a:rPr lang="en-US" sz="1600" dirty="0"/>
              <a:t>workflow, </a:t>
            </a:r>
            <a:r>
              <a:rPr lang="ru-RU" sz="1600" dirty="0"/>
              <a:t>ветвления и циклы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 OpenAI GPT-4o</a:t>
            </a:r>
            <a:r>
              <a:rPr lang="en-US" sz="1600" dirty="0"/>
              <a:t> — </a:t>
            </a:r>
            <a:r>
              <a:rPr lang="ru-RU" sz="1600" dirty="0"/>
              <a:t>мультимодальная </a:t>
            </a:r>
            <a:r>
              <a:rPr lang="en-US" sz="1600" dirty="0"/>
              <a:t>LLM-</a:t>
            </a:r>
            <a:r>
              <a:rPr lang="ru-RU" sz="1600" dirty="0"/>
              <a:t>модель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 Notion API</a:t>
            </a:r>
            <a:r>
              <a:rPr lang="en-US" sz="1600" dirty="0"/>
              <a:t> — </a:t>
            </a:r>
            <a:r>
              <a:rPr lang="ru-RU" sz="1600" dirty="0"/>
              <a:t>база данных (в текущей реализации)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 JavaScript</a:t>
            </a:r>
            <a:r>
              <a:rPr lang="en-US" sz="1600" dirty="0"/>
              <a:t> — </a:t>
            </a:r>
            <a:r>
              <a:rPr lang="ru-RU" sz="1600" dirty="0"/>
              <a:t>парсинг, валидация, бизнес-логика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4AE2D3-DCDF-3FA6-0403-2EB596BDD1FC}"/>
              </a:ext>
            </a:extLst>
          </p:cNvPr>
          <p:cNvSpPr txBox="1"/>
          <p:nvPr/>
        </p:nvSpPr>
        <p:spPr>
          <a:xfrm>
            <a:off x="413920" y="6386649"/>
            <a:ext cx="714818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i="1" dirty="0"/>
              <a:t>Архитектура проекта может быть адаптирована под другие базы данных и предметные области.</a:t>
            </a:r>
          </a:p>
        </p:txBody>
      </p:sp>
    </p:spTree>
    <p:extLst>
      <p:ext uri="{BB962C8B-B14F-4D97-AF65-F5344CB8AC3E}">
        <p14:creationId xmlns:p14="http://schemas.microsoft.com/office/powerpoint/2010/main" val="3362625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BE25C9-AE46-375F-A3B4-C743D58C9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 descr="Изображение выглядит как круг, снимок экрана, электрони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16A7578-0588-AF82-E0C0-2EAC2C0EF9A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19" b="19505"/>
          <a:stretch>
            <a:fillRect/>
          </a:stretch>
        </p:blipFill>
        <p:spPr>
          <a:xfrm>
            <a:off x="0" y="0"/>
            <a:ext cx="12191980" cy="6857990"/>
          </a:xfrm>
          <a:prstGeom prst="rect">
            <a:avLst/>
          </a:prstGeom>
        </p:spPr>
      </p:pic>
      <p:pic>
        <p:nvPicPr>
          <p:cNvPr id="7" name="Объект 6" descr="Изображение выглядит как круг, снимок экрана, электрони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6FAEBAC-F6DB-F3EE-9171-B5AA3DBDC9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20" y="437755"/>
            <a:ext cx="1687022" cy="1543445"/>
          </a:xfr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F4FD0E3B-41B9-7272-30BC-EC2BB8BE2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571" y="523677"/>
            <a:ext cx="9067800" cy="1266298"/>
          </a:xfrm>
        </p:spPr>
        <p:txBody>
          <a:bodyPr>
            <a:normAutofit/>
          </a:bodyPr>
          <a:lstStyle/>
          <a:p>
            <a:r>
              <a:rPr lang="ru-RU" dirty="0">
                <a:effectLst/>
              </a:rPr>
              <a:t>Обзор</a:t>
            </a:r>
            <a:r>
              <a:rPr lang="en-GB" dirty="0">
                <a:effectLst/>
              </a:rPr>
              <a:t> </a:t>
            </a:r>
            <a:r>
              <a:rPr lang="en-US" dirty="0"/>
              <a:t>Workflow (n8n)</a:t>
            </a:r>
            <a:endParaRPr lang="ru-RU" dirty="0"/>
          </a:p>
        </p:txBody>
      </p:sp>
      <p:pic>
        <p:nvPicPr>
          <p:cNvPr id="3" name="Рисунок 2" descr="Изображение выглядит как снимок экрана, текст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3D5524E-F1E2-41A1-0D7F-80A836F49C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0977" y="1981200"/>
            <a:ext cx="9938394" cy="454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105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74653B-B68A-C74D-FB50-8DB789E64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 descr="Изображение выглядит как круг, снимок экрана, электрони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0D111F5-EF09-509B-1E4F-DF7529F61C5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19" b="19505"/>
          <a:stretch>
            <a:fillRect/>
          </a:stretch>
        </p:blipFill>
        <p:spPr>
          <a:xfrm>
            <a:off x="0" y="0"/>
            <a:ext cx="12191980" cy="6857990"/>
          </a:xfrm>
          <a:prstGeom prst="rect">
            <a:avLst/>
          </a:prstGeom>
        </p:spPr>
      </p:pic>
      <p:pic>
        <p:nvPicPr>
          <p:cNvPr id="7" name="Объект 6" descr="Изображение выглядит как круг, снимок экрана, электрони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8FF315D-413E-2B0C-4EDF-8E1FB5C224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20" y="437755"/>
            <a:ext cx="1687022" cy="1543445"/>
          </a:xfr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8EBC908B-69B5-26B9-9459-559E06839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571" y="523677"/>
            <a:ext cx="9067800" cy="1266298"/>
          </a:xfrm>
        </p:spPr>
        <p:txBody>
          <a:bodyPr>
            <a:normAutofit/>
          </a:bodyPr>
          <a:lstStyle/>
          <a:p>
            <a:r>
              <a:rPr lang="en-US" dirty="0"/>
              <a:t>Workflow: </a:t>
            </a:r>
            <a:r>
              <a:rPr lang="ru-RU" dirty="0"/>
              <a:t>входные данные</a:t>
            </a:r>
            <a:r>
              <a:rPr lang="en-US" dirty="0"/>
              <a:t> &amp; </a:t>
            </a:r>
            <a:r>
              <a:rPr lang="ru-RU" dirty="0"/>
              <a:t>нормализация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5684F1-59F3-B157-A43C-E0CD7E8D2BBF}"/>
              </a:ext>
            </a:extLst>
          </p:cNvPr>
          <p:cNvSpPr txBox="1"/>
          <p:nvPr/>
        </p:nvSpPr>
        <p:spPr>
          <a:xfrm>
            <a:off x="1257431" y="1981200"/>
            <a:ext cx="96771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effectLst/>
              </a:rPr>
              <a:t>Подготовка контролируемого мультимодального ввода данных перед обработкой с помощью искусственного интеллекта</a:t>
            </a:r>
            <a:endParaRPr lang="ru-RU" dirty="0"/>
          </a:p>
        </p:txBody>
      </p:sp>
      <p:pic>
        <p:nvPicPr>
          <p:cNvPr id="8" name="Рисунок 7" descr="Изображение выглядит как снимок экрана, текст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AF0DE13-2C35-AE07-59FF-978D269E5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47" y="2627531"/>
            <a:ext cx="8981505" cy="402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839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F5AF80-4C8B-41E7-E56A-E10D81544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 descr="Изображение выглядит как круг, снимок экрана, электрони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ECB3CC5-FF12-C7ED-4F3D-DB5C2ED1394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19" b="19505"/>
          <a:stretch>
            <a:fillRect/>
          </a:stretch>
        </p:blipFill>
        <p:spPr>
          <a:xfrm>
            <a:off x="0" y="0"/>
            <a:ext cx="12191980" cy="6857990"/>
          </a:xfrm>
          <a:prstGeom prst="rect">
            <a:avLst/>
          </a:prstGeom>
        </p:spPr>
      </p:pic>
      <p:pic>
        <p:nvPicPr>
          <p:cNvPr id="7" name="Объект 6" descr="Изображение выглядит как круг, снимок экрана, электрони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133E8D6-C484-F7ED-2AB9-418468D821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20" y="437755"/>
            <a:ext cx="1687022" cy="1543445"/>
          </a:xfr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F1F9E6F0-F728-631A-8948-AC9FF2CCF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571" y="523677"/>
            <a:ext cx="9067800" cy="1266298"/>
          </a:xfrm>
        </p:spPr>
        <p:txBody>
          <a:bodyPr>
            <a:normAutofit/>
          </a:bodyPr>
          <a:lstStyle/>
          <a:p>
            <a:r>
              <a:rPr lang="en-US" dirty="0"/>
              <a:t>Workflow: </a:t>
            </a:r>
            <a:r>
              <a:rPr lang="ru-RU" dirty="0" err="1">
                <a:effectLst/>
              </a:rPr>
              <a:t>Многоагентный</a:t>
            </a:r>
            <a:r>
              <a:rPr lang="ru-RU" dirty="0">
                <a:effectLst/>
              </a:rPr>
              <a:t> </a:t>
            </a:r>
            <a:r>
              <a:rPr lang="en-GB" dirty="0">
                <a:effectLst/>
              </a:rPr>
              <a:t>AI</a:t>
            </a:r>
            <a:endParaRPr lang="ru-RU" dirty="0"/>
          </a:p>
        </p:txBody>
      </p:sp>
      <p:pic>
        <p:nvPicPr>
          <p:cNvPr id="3" name="Рисунок 2" descr="Изображение выглядит как текст, снимок экрана, Мультимедийн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D78A420-838A-B6C1-4FA7-BBEE87E42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20" y="2137885"/>
            <a:ext cx="8498467" cy="38710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037BC5-28B3-69CB-367D-DD9DB470F788}"/>
              </a:ext>
            </a:extLst>
          </p:cNvPr>
          <p:cNvSpPr txBox="1"/>
          <p:nvPr/>
        </p:nvSpPr>
        <p:spPr>
          <a:xfrm>
            <a:off x="546997" y="6079826"/>
            <a:ext cx="110979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i="1" dirty="0">
                <a:effectLst/>
              </a:rPr>
              <a:t>Каждый агент работает в соответствии со своими собственными запросами, правилами и ограничениями на вывод</a:t>
            </a:r>
            <a:endParaRPr lang="ru-RU" sz="1200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AF3DFE-B488-545C-564D-2F3747D6F6F9}"/>
              </a:ext>
            </a:extLst>
          </p:cNvPr>
          <p:cNvSpPr txBox="1"/>
          <p:nvPr/>
        </p:nvSpPr>
        <p:spPr>
          <a:xfrm>
            <a:off x="8912387" y="2137884"/>
            <a:ext cx="286569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Зачем нужны несколько агентов</a:t>
            </a:r>
            <a:endParaRPr lang="en-GB" b="1" dirty="0"/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ru-RU" dirty="0"/>
              <a:t>Один агент</a:t>
            </a:r>
            <a:r>
              <a:rPr lang="en-US" dirty="0"/>
              <a:t> = </a:t>
            </a:r>
            <a:r>
              <a:rPr lang="ru-RU" dirty="0"/>
              <a:t>одна ответственность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ru-RU" dirty="0"/>
              <a:t>Снижается риск возникновения галлюцинаций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ru-RU" dirty="0"/>
              <a:t>Четкое управление результатами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ru-RU" dirty="0"/>
              <a:t>Упрощается проверка и масштабирование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161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10D229-A30A-40D2-5BBF-FC9C32330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 descr="Изображение выглядит как круг, снимок экрана, электрони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964BDC4-B8B7-54B6-7171-2A89FD5E098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19" b="19505"/>
          <a:stretch>
            <a:fillRect/>
          </a:stretch>
        </p:blipFill>
        <p:spPr>
          <a:xfrm>
            <a:off x="0" y="0"/>
            <a:ext cx="12191980" cy="6857990"/>
          </a:xfrm>
          <a:prstGeom prst="rect">
            <a:avLst/>
          </a:prstGeom>
        </p:spPr>
      </p:pic>
      <p:pic>
        <p:nvPicPr>
          <p:cNvPr id="7" name="Объект 6" descr="Изображение выглядит как круг, снимок экрана, электрони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FE5E754-1BEF-DE74-3058-93EACF6581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20" y="437755"/>
            <a:ext cx="1687022" cy="1543445"/>
          </a:xfr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CF442DDD-817D-D1DF-3B33-BD513ABC5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571" y="523677"/>
            <a:ext cx="9067800" cy="1266298"/>
          </a:xfrm>
        </p:spPr>
        <p:txBody>
          <a:bodyPr>
            <a:normAutofit fontScale="90000"/>
          </a:bodyPr>
          <a:lstStyle/>
          <a:p>
            <a:r>
              <a:rPr lang="en-US" dirty="0"/>
              <a:t>Workflow: </a:t>
            </a:r>
            <a:r>
              <a:rPr lang="ru-RU" dirty="0">
                <a:effectLst/>
              </a:rPr>
              <a:t>Проверка данных, безопасное обновление</a:t>
            </a:r>
            <a:r>
              <a:rPr lang="en-US" dirty="0"/>
              <a:t> &amp; </a:t>
            </a:r>
            <a:r>
              <a:rPr lang="ru-RU" dirty="0">
                <a:effectLst/>
              </a:rPr>
              <a:t>контроль состояния</a:t>
            </a:r>
            <a:endParaRPr lang="ru-RU" dirty="0"/>
          </a:p>
        </p:txBody>
      </p:sp>
      <p:pic>
        <p:nvPicPr>
          <p:cNvPr id="8" name="Рисунок 7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237E408-3F92-3FBC-12AB-6FF32929FA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21" y="2149397"/>
            <a:ext cx="8833666" cy="40119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214B128-AA08-51DD-AD9F-EDC1BE2F7BD5}"/>
              </a:ext>
            </a:extLst>
          </p:cNvPr>
          <p:cNvSpPr txBox="1"/>
          <p:nvPr/>
        </p:nvSpPr>
        <p:spPr>
          <a:xfrm>
            <a:off x="9339944" y="2197849"/>
            <a:ext cx="2590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ru-RU" dirty="0"/>
              <a:t>Валидация и безопасное обновление данных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ru-RU" dirty="0"/>
              <a:t>Управление статусами и ошибками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ru-RU" dirty="0"/>
              <a:t>Ручная проверка результатов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385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925B6F-F243-8350-6B35-0B6D4EE97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 descr="Изображение выглядит как круг, снимок экрана, электрони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0B10373-732C-6030-E71B-395874BF63D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19" b="19505"/>
          <a:stretch>
            <a:fillRect/>
          </a:stretch>
        </p:blipFill>
        <p:spPr>
          <a:xfrm>
            <a:off x="20" y="0"/>
            <a:ext cx="12191980" cy="6857990"/>
          </a:xfrm>
          <a:prstGeom prst="rect">
            <a:avLst/>
          </a:prstGeom>
        </p:spPr>
      </p:pic>
      <p:pic>
        <p:nvPicPr>
          <p:cNvPr id="7" name="Объект 6" descr="Изображение выглядит как круг, снимок экрана, электрони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243112A-5427-5D1A-4635-84BD1BA709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20" y="437755"/>
            <a:ext cx="1687022" cy="1543445"/>
          </a:xfr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CCEED17E-516A-8865-8F2E-BCBBB8842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571" y="523677"/>
            <a:ext cx="9067800" cy="1266298"/>
          </a:xfrm>
        </p:spPr>
        <p:txBody>
          <a:bodyPr>
            <a:normAutofit/>
          </a:bodyPr>
          <a:lstStyle/>
          <a:p>
            <a:r>
              <a:rPr lang="ru-RU" dirty="0"/>
              <a:t>Гибкость и переносимость решения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E70E84-AA6C-D43D-A2C9-50613893C8EC}"/>
              </a:ext>
            </a:extLst>
          </p:cNvPr>
          <p:cNvSpPr txBox="1"/>
          <p:nvPr/>
        </p:nvSpPr>
        <p:spPr>
          <a:xfrm>
            <a:off x="413919" y="2027366"/>
            <a:ext cx="112664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Текущая реализация - </a:t>
            </a:r>
            <a:r>
              <a:rPr lang="ru-RU" b="1" dirty="0"/>
              <a:t>один из возможных вариантов</a:t>
            </a:r>
            <a:r>
              <a:rPr lang="ru-RU" dirty="0"/>
              <a:t>, архитектура не привязана к конкретным инструментам.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AFBEBD-ACD4-8E48-18A9-FD898BCB4E34}"/>
              </a:ext>
            </a:extLst>
          </p:cNvPr>
          <p:cNvSpPr txBox="1"/>
          <p:nvPr/>
        </p:nvSpPr>
        <p:spPr>
          <a:xfrm>
            <a:off x="413919" y="2790655"/>
            <a:ext cx="35264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Текущая реализация: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3ED63B95-2205-4858-3A86-FDB8B39F3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919" y="3233671"/>
            <a:ext cx="485665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Базы данных: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dirty="0"/>
              <a:t>Notion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Хранилище изображений: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dirty="0"/>
              <a:t>Google Drive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Оркестрация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n8n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LLM-провайдеры: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dirty="0"/>
              <a:t>GPT-4o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A11E66-6E09-FBDB-B7E8-A63816486449}"/>
              </a:ext>
            </a:extLst>
          </p:cNvPr>
          <p:cNvSpPr txBox="1"/>
          <p:nvPr/>
        </p:nvSpPr>
        <p:spPr>
          <a:xfrm>
            <a:off x="5127172" y="2799410"/>
            <a:ext cx="5878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Компоненты могут быть заменены: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2BA446E8-F5E4-3096-9EF9-BAD894CEA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7172" y="3233900"/>
            <a:ext cx="689727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Базы данных: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PostgreSQL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· CRM · PIM · внутренние БД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Хранилище изображений: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S3 / S3-compatible ·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Оркестрация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·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Airflow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·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serverless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-функции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LLM-провайдеры: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OpenAI и альтернативы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2EF524-52F3-9769-C679-FE65BA7BD24F}"/>
              </a:ext>
            </a:extLst>
          </p:cNvPr>
          <p:cNvSpPr txBox="1"/>
          <p:nvPr/>
        </p:nvSpPr>
        <p:spPr>
          <a:xfrm>
            <a:off x="2842244" y="4489376"/>
            <a:ext cx="4381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Где применима подобная система</a:t>
            </a:r>
          </a:p>
        </p:txBody>
      </p:sp>
      <p:sp>
        <p:nvSpPr>
          <p:cNvPr id="22" name="Rectangle 4">
            <a:extLst>
              <a:ext uri="{FF2B5EF4-FFF2-40B4-BE49-F238E27FC236}">
                <a16:creationId xmlns:a16="http://schemas.microsoft.com/office/drawing/2014/main" id="{A321E40D-C3D8-830D-7718-390A74191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2244" y="4858708"/>
            <a:ext cx="640393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Каталоги товаров</a:t>
            </a: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(описания, характеристики, изображения)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Недвижимость и отели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Туристические и картографические сервисы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Медицинские и сервисные справочники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Внутренние корпоративные реестры и базы знаний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195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DC2E61-7823-BA1C-C154-8DC301B56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0465" y="609600"/>
            <a:ext cx="5122606" cy="19050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/>
              <a:t>Преимущества решения</a:t>
            </a:r>
            <a:br>
              <a:rPr lang="ru-RU"/>
            </a:br>
            <a:r>
              <a:rPr lang="en-GB"/>
              <a:t>Data manager assistant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D4CED6-0220-0CA1-DD29-79980080E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0465" y="2666999"/>
            <a:ext cx="5122606" cy="3216276"/>
          </a:xfrm>
        </p:spPr>
        <p:txBody>
          <a:bodyPr anchor="t">
            <a:normAutofit/>
          </a:bodyPr>
          <a:lstStyle/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ru-RU" altLang="ru-RU" sz="1700" b="1" cap="none" dirty="0">
                <a:effectLst/>
                <a:latin typeface="Arial" panose="020B0604020202020204" pitchFamily="34" charset="0"/>
              </a:rPr>
              <a:t> </a:t>
            </a:r>
            <a:r>
              <a:rPr lang="ru-RU" altLang="ru-RU" sz="1700" b="1" cap="none" dirty="0" err="1">
                <a:effectLst/>
                <a:latin typeface="Arial" panose="020B0604020202020204" pitchFamily="34" charset="0"/>
              </a:rPr>
              <a:t>Мультиагентная</a:t>
            </a:r>
            <a:r>
              <a:rPr lang="ru-RU" altLang="ru-RU" sz="1700" b="1" cap="none" dirty="0">
                <a:effectLst/>
                <a:latin typeface="Arial" panose="020B0604020202020204" pitchFamily="34" charset="0"/>
              </a:rPr>
              <a:t> архитектура</a:t>
            </a:r>
            <a:r>
              <a:rPr lang="ru-RU" altLang="ru-RU" sz="1700" cap="none" dirty="0">
                <a:effectLst/>
                <a:latin typeface="Arial" panose="020B0604020202020204" pitchFamily="34" charset="0"/>
              </a:rPr>
              <a:t> с разделением ответственности</a:t>
            </a:r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ru-RU" altLang="ru-RU" sz="1700" b="1" cap="none" dirty="0">
                <a:effectLst/>
                <a:latin typeface="Arial" panose="020B0604020202020204" pitchFamily="34" charset="0"/>
              </a:rPr>
              <a:t> </a:t>
            </a:r>
            <a:r>
              <a:rPr lang="ru-RU" altLang="ru-RU" sz="1700" b="1" cap="none" dirty="0" err="1">
                <a:effectLst/>
                <a:latin typeface="Arial" panose="020B0604020202020204" pitchFamily="34" charset="0"/>
              </a:rPr>
              <a:t>Оркестрация</a:t>
            </a:r>
            <a:r>
              <a:rPr lang="ru-RU" altLang="ru-RU" sz="1700" b="1" cap="none" dirty="0">
                <a:effectLst/>
                <a:latin typeface="Arial" panose="020B0604020202020204" pitchFamily="34" charset="0"/>
              </a:rPr>
              <a:t> </a:t>
            </a:r>
            <a:r>
              <a:rPr lang="ru-RU" altLang="ru-RU" sz="1700" b="1" cap="none" dirty="0" err="1">
                <a:effectLst/>
                <a:latin typeface="Arial" panose="020B0604020202020204" pitchFamily="34" charset="0"/>
              </a:rPr>
              <a:t>workflow</a:t>
            </a:r>
            <a:r>
              <a:rPr lang="ru-RU" altLang="ru-RU" sz="1700" cap="none" dirty="0">
                <a:effectLst/>
                <a:latin typeface="Arial" panose="020B0604020202020204" pitchFamily="34" charset="0"/>
              </a:rPr>
              <a:t> с ветвлениями, циклами и контролем состояний</a:t>
            </a:r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ru-RU" altLang="ru-RU" sz="1700" b="1" cap="none" dirty="0">
                <a:effectLst/>
                <a:latin typeface="Arial" panose="020B0604020202020204" pitchFamily="34" charset="0"/>
              </a:rPr>
              <a:t> Мультимодальная обработка данных</a:t>
            </a:r>
            <a:br>
              <a:rPr lang="ru-RU" altLang="ru-RU" sz="1700" cap="none" dirty="0">
                <a:effectLst/>
                <a:latin typeface="Arial" panose="020B0604020202020204" pitchFamily="34" charset="0"/>
              </a:rPr>
            </a:br>
            <a:r>
              <a:rPr lang="ru-RU" altLang="ru-RU" sz="1700" cap="none" dirty="0">
                <a:effectLst/>
                <a:latin typeface="Arial" panose="020B0604020202020204" pitchFamily="34" charset="0"/>
              </a:rPr>
              <a:t>(текст, скриншоты, изображения)</a:t>
            </a:r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ru-RU" altLang="ru-RU" sz="1700" b="1" cap="none" dirty="0">
                <a:effectLst/>
                <a:latin typeface="Arial" panose="020B0604020202020204" pitchFamily="34" charset="0"/>
              </a:rPr>
              <a:t> Контролируемое использование LLM</a:t>
            </a:r>
            <a:br>
              <a:rPr lang="ru-RU" altLang="ru-RU" sz="1700" cap="none" dirty="0">
                <a:effectLst/>
                <a:latin typeface="Arial" panose="020B0604020202020204" pitchFamily="34" charset="0"/>
              </a:rPr>
            </a:br>
            <a:r>
              <a:rPr lang="ru-RU" altLang="ru-RU" sz="1700" cap="none" dirty="0">
                <a:effectLst/>
                <a:latin typeface="Arial" panose="020B0604020202020204" pitchFamily="34" charset="0"/>
              </a:rPr>
              <a:t>(строгие JSON-выходы, валидация, защита данных)</a:t>
            </a:r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ru-RU" altLang="ru-RU" sz="1700" b="1" cap="none" dirty="0">
                <a:effectLst/>
                <a:latin typeface="Arial" panose="020B0604020202020204" pitchFamily="34" charset="0"/>
              </a:rPr>
              <a:t> Production-</a:t>
            </a:r>
            <a:r>
              <a:rPr lang="ru-RU" altLang="ru-RU" sz="1700" b="1" cap="none" dirty="0" err="1">
                <a:effectLst/>
                <a:latin typeface="Arial" panose="020B0604020202020204" pitchFamily="34" charset="0"/>
              </a:rPr>
              <a:t>ready</a:t>
            </a:r>
            <a:r>
              <a:rPr lang="ru-RU" altLang="ru-RU" sz="1700" b="1" cap="none" dirty="0">
                <a:effectLst/>
                <a:latin typeface="Arial" panose="020B0604020202020204" pitchFamily="34" charset="0"/>
              </a:rPr>
              <a:t> подход</a:t>
            </a:r>
            <a:br>
              <a:rPr lang="ru-RU" altLang="ru-RU" sz="1700" cap="none" dirty="0">
                <a:effectLst/>
                <a:latin typeface="Arial" panose="020B0604020202020204" pitchFamily="34" charset="0"/>
              </a:rPr>
            </a:br>
            <a:r>
              <a:rPr lang="ru-RU" altLang="ru-RU" sz="1700" cap="none" dirty="0">
                <a:effectLst/>
                <a:latin typeface="Arial" panose="020B0604020202020204" pitchFamily="34" charset="0"/>
              </a:rPr>
              <a:t>(безопасные обновления, статусы, логирование ошибок)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A879A46-EB95-5CDA-8070-EAC231020F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192" y="781675"/>
            <a:ext cx="5451627" cy="4974609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FE94BB-0A75-10AA-1152-994B279536E2}"/>
              </a:ext>
            </a:extLst>
          </p:cNvPr>
          <p:cNvSpPr txBox="1"/>
          <p:nvPr/>
        </p:nvSpPr>
        <p:spPr>
          <a:xfrm>
            <a:off x="643192" y="603567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chemeClr val="tx1">
                    <a:alpha val="55000"/>
                  </a:schemeClr>
                </a:solidFill>
              </a:rPr>
              <a:t>Автор </a:t>
            </a:r>
          </a:p>
          <a:p>
            <a:r>
              <a:rPr lang="ru-RU" sz="1200" dirty="0">
                <a:solidFill>
                  <a:schemeClr val="tx1">
                    <a:alpha val="55000"/>
                  </a:schemeClr>
                </a:solidFill>
              </a:rPr>
              <a:t>Ольга Бычкова </a:t>
            </a:r>
            <a:r>
              <a:rPr lang="en-US" sz="1200" dirty="0">
                <a:solidFill>
                  <a:schemeClr val="tx1">
                    <a:alpha val="55000"/>
                  </a:schemeClr>
                </a:solidFill>
              </a:rPr>
              <a:t>Data/Risk Analyst </a:t>
            </a:r>
            <a:r>
              <a:rPr lang="ru-RU" sz="1200" dirty="0">
                <a:solidFill>
                  <a:schemeClr val="tx1">
                    <a:alpha val="55000"/>
                  </a:schemeClr>
                </a:solidFill>
              </a:rPr>
              <a:t>и </a:t>
            </a:r>
            <a:r>
              <a:rPr lang="en-US" sz="1200" dirty="0">
                <a:solidFill>
                  <a:schemeClr val="tx1">
                    <a:alpha val="55000"/>
                  </a:schemeClr>
                </a:solidFill>
              </a:rPr>
              <a:t>Prompt Engineer </a:t>
            </a:r>
            <a:endParaRPr lang="ru-RU" sz="1200" dirty="0">
              <a:solidFill>
                <a:schemeClr val="tx1">
                  <a:alpha val="55000"/>
                </a:schemeClr>
              </a:solidFill>
            </a:endParaRPr>
          </a:p>
          <a:p>
            <a:r>
              <a:rPr lang="ru-RU" sz="1200" dirty="0">
                <a:solidFill>
                  <a:schemeClr val="tx1">
                    <a:alpha val="55000"/>
                  </a:schemeClr>
                </a:solidFill>
              </a:rPr>
              <a:t>Опыт: аналитика, автоматизация, кредитный риск</a:t>
            </a:r>
          </a:p>
        </p:txBody>
      </p:sp>
    </p:spTree>
    <p:extLst>
      <p:ext uri="{BB962C8B-B14F-4D97-AF65-F5344CB8AC3E}">
        <p14:creationId xmlns:p14="http://schemas.microsoft.com/office/powerpoint/2010/main" val="2112285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DE56D5-54B1-3D72-795C-3BCB9CBEB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62164E-4528-40DB-BC26-D6DDE216A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rgbClr val="363D4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F30007FA-C6A2-43A0-8045-7016AEF81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5322895"/>
          </a:xfrm>
          <a:custGeom>
            <a:avLst/>
            <a:gdLst>
              <a:gd name="connsiteX0" fmla="*/ 0 w 12192000"/>
              <a:gd name="connsiteY0" fmla="*/ 0 h 5322895"/>
              <a:gd name="connsiteX1" fmla="*/ 12192000 w 12192000"/>
              <a:gd name="connsiteY1" fmla="*/ 0 h 5322895"/>
              <a:gd name="connsiteX2" fmla="*/ 12192000 w 12192000"/>
              <a:gd name="connsiteY2" fmla="*/ 213719 h 5322895"/>
              <a:gd name="connsiteX3" fmla="*/ 12192000 w 12192000"/>
              <a:gd name="connsiteY3" fmla="*/ 471948 h 5322895"/>
              <a:gd name="connsiteX4" fmla="*/ 12192000 w 12192000"/>
              <a:gd name="connsiteY4" fmla="*/ 3571886 h 5322895"/>
              <a:gd name="connsiteX5" fmla="*/ 12192000 w 12192000"/>
              <a:gd name="connsiteY5" fmla="*/ 3753332 h 5322895"/>
              <a:gd name="connsiteX6" fmla="*/ 12192000 w 12192000"/>
              <a:gd name="connsiteY6" fmla="*/ 4806077 h 5322895"/>
              <a:gd name="connsiteX7" fmla="*/ 11957522 w 12192000"/>
              <a:gd name="connsiteY7" fmla="*/ 4849979 h 5322895"/>
              <a:gd name="connsiteX8" fmla="*/ 11679973 w 12192000"/>
              <a:gd name="connsiteY8" fmla="*/ 4899723 h 5322895"/>
              <a:gd name="connsiteX9" fmla="*/ 11401197 w 12192000"/>
              <a:gd name="connsiteY9" fmla="*/ 4948416 h 5322895"/>
              <a:gd name="connsiteX10" fmla="*/ 11121192 w 12192000"/>
              <a:gd name="connsiteY10" fmla="*/ 4990102 h 5322895"/>
              <a:gd name="connsiteX11" fmla="*/ 10842416 w 12192000"/>
              <a:gd name="connsiteY11" fmla="*/ 5032139 h 5322895"/>
              <a:gd name="connsiteX12" fmla="*/ 10562411 w 12192000"/>
              <a:gd name="connsiteY12" fmla="*/ 5071374 h 5322895"/>
              <a:gd name="connsiteX13" fmla="*/ 10286091 w 12192000"/>
              <a:gd name="connsiteY13" fmla="*/ 5105003 h 5322895"/>
              <a:gd name="connsiteX14" fmla="*/ 10006086 w 12192000"/>
              <a:gd name="connsiteY14" fmla="*/ 5136881 h 5322895"/>
              <a:gd name="connsiteX15" fmla="*/ 9727310 w 12192000"/>
              <a:gd name="connsiteY15" fmla="*/ 5165957 h 5322895"/>
              <a:gd name="connsiteX16" fmla="*/ 9453445 w 12192000"/>
              <a:gd name="connsiteY16" fmla="*/ 5191179 h 5322895"/>
              <a:gd name="connsiteX17" fmla="*/ 9175897 w 12192000"/>
              <a:gd name="connsiteY17" fmla="*/ 5216401 h 5322895"/>
              <a:gd name="connsiteX18" fmla="*/ 8902033 w 12192000"/>
              <a:gd name="connsiteY18" fmla="*/ 5237420 h 5322895"/>
              <a:gd name="connsiteX19" fmla="*/ 8628169 w 12192000"/>
              <a:gd name="connsiteY19" fmla="*/ 5253884 h 5322895"/>
              <a:gd name="connsiteX20" fmla="*/ 8355533 w 12192000"/>
              <a:gd name="connsiteY20" fmla="*/ 5271050 h 5322895"/>
              <a:gd name="connsiteX21" fmla="*/ 8085353 w 12192000"/>
              <a:gd name="connsiteY21" fmla="*/ 5285412 h 5322895"/>
              <a:gd name="connsiteX22" fmla="*/ 7817629 w 12192000"/>
              <a:gd name="connsiteY22" fmla="*/ 5295571 h 5322895"/>
              <a:gd name="connsiteX23" fmla="*/ 7549905 w 12192000"/>
              <a:gd name="connsiteY23" fmla="*/ 5304329 h 5322895"/>
              <a:gd name="connsiteX24" fmla="*/ 7284638 w 12192000"/>
              <a:gd name="connsiteY24" fmla="*/ 5312736 h 5322895"/>
              <a:gd name="connsiteX25" fmla="*/ 7023055 w 12192000"/>
              <a:gd name="connsiteY25" fmla="*/ 5316590 h 5322895"/>
              <a:gd name="connsiteX26" fmla="*/ 6761472 w 12192000"/>
              <a:gd name="connsiteY26" fmla="*/ 5320793 h 5322895"/>
              <a:gd name="connsiteX27" fmla="*/ 6503573 w 12192000"/>
              <a:gd name="connsiteY27" fmla="*/ 5322895 h 5322895"/>
              <a:gd name="connsiteX28" fmla="*/ 6248130 w 12192000"/>
              <a:gd name="connsiteY28" fmla="*/ 5320793 h 5322895"/>
              <a:gd name="connsiteX29" fmla="*/ 5995144 w 12192000"/>
              <a:gd name="connsiteY29" fmla="*/ 5320793 h 5322895"/>
              <a:gd name="connsiteX30" fmla="*/ 5744613 w 12192000"/>
              <a:gd name="connsiteY30" fmla="*/ 5316590 h 5322895"/>
              <a:gd name="connsiteX31" fmla="*/ 5498995 w 12192000"/>
              <a:gd name="connsiteY31" fmla="*/ 5310284 h 5322895"/>
              <a:gd name="connsiteX32" fmla="*/ 5255834 w 12192000"/>
              <a:gd name="connsiteY32" fmla="*/ 5304329 h 5322895"/>
              <a:gd name="connsiteX33" fmla="*/ 5017584 w 12192000"/>
              <a:gd name="connsiteY33" fmla="*/ 5297673 h 5322895"/>
              <a:gd name="connsiteX34" fmla="*/ 4780562 w 12192000"/>
              <a:gd name="connsiteY34" fmla="*/ 5287514 h 5322895"/>
              <a:gd name="connsiteX35" fmla="*/ 4547227 w 12192000"/>
              <a:gd name="connsiteY35" fmla="*/ 5276654 h 5322895"/>
              <a:gd name="connsiteX36" fmla="*/ 4318800 w 12192000"/>
              <a:gd name="connsiteY36" fmla="*/ 5266846 h 5322895"/>
              <a:gd name="connsiteX37" fmla="*/ 3873004 w 12192000"/>
              <a:gd name="connsiteY37" fmla="*/ 5239171 h 5322895"/>
              <a:gd name="connsiteX38" fmla="*/ 3445628 w 12192000"/>
              <a:gd name="connsiteY38" fmla="*/ 5209746 h 5322895"/>
              <a:gd name="connsiteX39" fmla="*/ 3035446 w 12192000"/>
              <a:gd name="connsiteY39" fmla="*/ 5178918 h 5322895"/>
              <a:gd name="connsiteX40" fmla="*/ 2647370 w 12192000"/>
              <a:gd name="connsiteY40" fmla="*/ 5144939 h 5322895"/>
              <a:gd name="connsiteX41" fmla="*/ 2276487 w 12192000"/>
              <a:gd name="connsiteY41" fmla="*/ 5109557 h 5322895"/>
              <a:gd name="connsiteX42" fmla="*/ 1932621 w 12192000"/>
              <a:gd name="connsiteY42" fmla="*/ 5071374 h 5322895"/>
              <a:gd name="connsiteX43" fmla="*/ 1609634 w 12192000"/>
              <a:gd name="connsiteY43" fmla="*/ 5033891 h 5322895"/>
              <a:gd name="connsiteX44" fmla="*/ 1312435 w 12192000"/>
              <a:gd name="connsiteY44" fmla="*/ 4996408 h 5322895"/>
              <a:gd name="connsiteX45" fmla="*/ 1039799 w 12192000"/>
              <a:gd name="connsiteY45" fmla="*/ 4961027 h 5322895"/>
              <a:gd name="connsiteX46" fmla="*/ 797865 w 12192000"/>
              <a:gd name="connsiteY46" fmla="*/ 4927397 h 5322895"/>
              <a:gd name="connsiteX47" fmla="*/ 579265 w 12192000"/>
              <a:gd name="connsiteY47" fmla="*/ 4895519 h 5322895"/>
              <a:gd name="connsiteX48" fmla="*/ 395052 w 12192000"/>
              <a:gd name="connsiteY48" fmla="*/ 4868896 h 5322895"/>
              <a:gd name="connsiteX49" fmla="*/ 240312 w 12192000"/>
              <a:gd name="connsiteY49" fmla="*/ 4843673 h 5322895"/>
              <a:gd name="connsiteX50" fmla="*/ 27853 w 12192000"/>
              <a:gd name="connsiteY50" fmla="*/ 4807592 h 5322895"/>
              <a:gd name="connsiteX51" fmla="*/ 0 w 12192000"/>
              <a:gd name="connsiteY51" fmla="*/ 4802879 h 5322895"/>
              <a:gd name="connsiteX52" fmla="*/ 0 w 12192000"/>
              <a:gd name="connsiteY52" fmla="*/ 3753332 h 5322895"/>
              <a:gd name="connsiteX53" fmla="*/ 0 w 12192000"/>
              <a:gd name="connsiteY53" fmla="*/ 3571886 h 5322895"/>
              <a:gd name="connsiteX54" fmla="*/ 0 w 12192000"/>
              <a:gd name="connsiteY54" fmla="*/ 471948 h 5322895"/>
              <a:gd name="connsiteX55" fmla="*/ 0 w 12192000"/>
              <a:gd name="connsiteY55" fmla="*/ 213719 h 5322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000" h="5322895">
                <a:moveTo>
                  <a:pt x="0" y="0"/>
                </a:moveTo>
                <a:lnTo>
                  <a:pt x="12192000" y="0"/>
                </a:lnTo>
                <a:lnTo>
                  <a:pt x="12192000" y="213719"/>
                </a:lnTo>
                <a:lnTo>
                  <a:pt x="12192000" y="471948"/>
                </a:lnTo>
                <a:lnTo>
                  <a:pt x="12192000" y="3571886"/>
                </a:lnTo>
                <a:lnTo>
                  <a:pt x="12192000" y="3753332"/>
                </a:lnTo>
                <a:lnTo>
                  <a:pt x="12192000" y="4806077"/>
                </a:lnTo>
                <a:lnTo>
                  <a:pt x="11957522" y="4849979"/>
                </a:lnTo>
                <a:lnTo>
                  <a:pt x="11679973" y="4899723"/>
                </a:lnTo>
                <a:lnTo>
                  <a:pt x="11401197" y="4948416"/>
                </a:lnTo>
                <a:lnTo>
                  <a:pt x="11121192" y="4990102"/>
                </a:lnTo>
                <a:lnTo>
                  <a:pt x="10842416" y="5032139"/>
                </a:lnTo>
                <a:lnTo>
                  <a:pt x="10562411" y="5071374"/>
                </a:lnTo>
                <a:lnTo>
                  <a:pt x="10286091" y="5105003"/>
                </a:lnTo>
                <a:lnTo>
                  <a:pt x="10006086" y="5136881"/>
                </a:lnTo>
                <a:lnTo>
                  <a:pt x="9727310" y="5165957"/>
                </a:lnTo>
                <a:lnTo>
                  <a:pt x="9453445" y="5191179"/>
                </a:lnTo>
                <a:lnTo>
                  <a:pt x="9175897" y="5216401"/>
                </a:lnTo>
                <a:lnTo>
                  <a:pt x="8902033" y="5237420"/>
                </a:lnTo>
                <a:lnTo>
                  <a:pt x="8628169" y="5253884"/>
                </a:lnTo>
                <a:lnTo>
                  <a:pt x="8355533" y="5271050"/>
                </a:lnTo>
                <a:lnTo>
                  <a:pt x="8085353" y="5285412"/>
                </a:lnTo>
                <a:lnTo>
                  <a:pt x="7817629" y="5295571"/>
                </a:lnTo>
                <a:lnTo>
                  <a:pt x="7549905" y="5304329"/>
                </a:lnTo>
                <a:lnTo>
                  <a:pt x="7284638" y="5312736"/>
                </a:lnTo>
                <a:lnTo>
                  <a:pt x="7023055" y="5316590"/>
                </a:lnTo>
                <a:lnTo>
                  <a:pt x="6761472" y="5320793"/>
                </a:lnTo>
                <a:lnTo>
                  <a:pt x="6503573" y="5322895"/>
                </a:lnTo>
                <a:lnTo>
                  <a:pt x="6248130" y="5320793"/>
                </a:lnTo>
                <a:lnTo>
                  <a:pt x="5995144" y="5320793"/>
                </a:lnTo>
                <a:lnTo>
                  <a:pt x="5744613" y="5316590"/>
                </a:lnTo>
                <a:lnTo>
                  <a:pt x="5498995" y="5310284"/>
                </a:lnTo>
                <a:lnTo>
                  <a:pt x="5255834" y="5304329"/>
                </a:lnTo>
                <a:lnTo>
                  <a:pt x="5017584" y="5297673"/>
                </a:lnTo>
                <a:lnTo>
                  <a:pt x="4780562" y="5287514"/>
                </a:lnTo>
                <a:lnTo>
                  <a:pt x="4547227" y="5276654"/>
                </a:lnTo>
                <a:lnTo>
                  <a:pt x="4318800" y="5266846"/>
                </a:lnTo>
                <a:lnTo>
                  <a:pt x="3873004" y="5239171"/>
                </a:lnTo>
                <a:lnTo>
                  <a:pt x="3445628" y="5209746"/>
                </a:lnTo>
                <a:lnTo>
                  <a:pt x="3035446" y="5178918"/>
                </a:lnTo>
                <a:lnTo>
                  <a:pt x="2647370" y="5144939"/>
                </a:lnTo>
                <a:lnTo>
                  <a:pt x="2276487" y="5109557"/>
                </a:lnTo>
                <a:lnTo>
                  <a:pt x="1932621" y="5071374"/>
                </a:lnTo>
                <a:lnTo>
                  <a:pt x="1609634" y="5033891"/>
                </a:lnTo>
                <a:lnTo>
                  <a:pt x="1312435" y="4996408"/>
                </a:lnTo>
                <a:lnTo>
                  <a:pt x="1039799" y="4961027"/>
                </a:lnTo>
                <a:lnTo>
                  <a:pt x="797865" y="4927397"/>
                </a:lnTo>
                <a:lnTo>
                  <a:pt x="579265" y="4895519"/>
                </a:lnTo>
                <a:lnTo>
                  <a:pt x="395052" y="4868896"/>
                </a:lnTo>
                <a:lnTo>
                  <a:pt x="240312" y="4843673"/>
                </a:lnTo>
                <a:lnTo>
                  <a:pt x="27853" y="4807592"/>
                </a:lnTo>
                <a:lnTo>
                  <a:pt x="0" y="4802879"/>
                </a:lnTo>
                <a:lnTo>
                  <a:pt x="0" y="3753332"/>
                </a:lnTo>
                <a:lnTo>
                  <a:pt x="0" y="3571886"/>
                </a:lnTo>
                <a:lnTo>
                  <a:pt x="0" y="471948"/>
                </a:lnTo>
                <a:lnTo>
                  <a:pt x="0" y="213719"/>
                </a:lnTo>
                <a:close/>
              </a:path>
            </a:pathLst>
          </a:custGeom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outerShdw blurRad="50800" dist="38100" dir="5400000" algn="t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9242D4-9F40-2A9F-14AE-34EB3F244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012" y="865974"/>
            <a:ext cx="8676222" cy="364382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Спасибо!</a:t>
            </a:r>
            <a:endParaRPr lang="en-US" sz="6600">
              <a:effectLst>
                <a:glow rad="38100">
                  <a:schemeClr val="bg1">
                    <a:lumMod val="65000"/>
                    <a:lumOff val="35000"/>
                    <a:alpha val="50000"/>
                  </a:schemeClr>
                </a:glow>
                <a:outerShdw blurRad="28575" dist="31750" dir="1320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C53A93-F1EC-2ACA-0616-0A4AB8B6C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1012" y="5542384"/>
            <a:ext cx="8676222" cy="6282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 algn="ctr" fontAlgn="base">
              <a:buNone/>
            </a:pPr>
            <a:r>
              <a:rPr lang="en-US" sz="2800">
                <a:solidFill>
                  <a:srgbClr val="E6E6E6"/>
                </a:solidFill>
              </a:rPr>
              <a:t>ИИ не заменяют нас, но делают работу умнее.</a:t>
            </a:r>
            <a:endParaRPr lang="en-US" altLang="ru-RU" sz="2800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58902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етка">
  <a:themeElements>
    <a:clrScheme name="Сетка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Сетка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Сетка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TM03457485[[fn=Сетка]]</Template>
  <TotalTime>329</TotalTime>
  <Words>588</Words>
  <Application>Microsoft Office PowerPoint</Application>
  <PresentationFormat>Широкоэкранный</PresentationFormat>
  <Paragraphs>81</Paragraphs>
  <Slides>10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Aptos</vt:lpstr>
      <vt:lpstr>Arial</vt:lpstr>
      <vt:lpstr>Century Gothic</vt:lpstr>
      <vt:lpstr>trebuchet ms</vt:lpstr>
      <vt:lpstr>Сетка</vt:lpstr>
      <vt:lpstr>Multi-Agent AI System for Automated Data Enrichment</vt:lpstr>
      <vt:lpstr>Data manager assistant</vt:lpstr>
      <vt:lpstr>Высокоуровневая архитектура многоагентного рабочего процесса</vt:lpstr>
      <vt:lpstr>Обзор Workflow (n8n)</vt:lpstr>
      <vt:lpstr>Workflow: входные данные &amp; нормализация</vt:lpstr>
      <vt:lpstr>Workflow: Многоагентный AI</vt:lpstr>
      <vt:lpstr>Workflow: Проверка данных, безопасное обновление &amp; контроль состояния</vt:lpstr>
      <vt:lpstr>Гибкость и переносимость решения</vt:lpstr>
      <vt:lpstr>Преимущества решения Data manager assistant</vt:lpstr>
      <vt:lpstr>Спасибо!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Olga Bychkova</dc:creator>
  <cp:lastModifiedBy>Olga Bychkova</cp:lastModifiedBy>
  <cp:revision>17</cp:revision>
  <dcterms:created xsi:type="dcterms:W3CDTF">2026-01-26T17:33:54Z</dcterms:created>
  <dcterms:modified xsi:type="dcterms:W3CDTF">2026-01-31T13:21:17Z</dcterms:modified>
</cp:coreProperties>
</file>